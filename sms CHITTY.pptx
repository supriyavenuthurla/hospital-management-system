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9"/>
  </p:notesMasterIdLst>
  <p:sldIdLst>
    <p:sldId id="295" r:id="rId5"/>
    <p:sldId id="282" r:id="rId6"/>
    <p:sldId id="280" r:id="rId7"/>
    <p:sldId id="284" r:id="rId8"/>
    <p:sldId id="283" r:id="rId9"/>
    <p:sldId id="285" r:id="rId10"/>
    <p:sldId id="286" r:id="rId11"/>
    <p:sldId id="287" r:id="rId12"/>
    <p:sldId id="288" r:id="rId13"/>
    <p:sldId id="289" r:id="rId14"/>
    <p:sldId id="290" r:id="rId15"/>
    <p:sldId id="292" r:id="rId16"/>
    <p:sldId id="293"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7/6/2026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7/6/2026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AF4F-57F4-1CBA-1779-14541D6BD740}"/>
              </a:ext>
            </a:extLst>
          </p:cNvPr>
          <p:cNvSpPr>
            <a:spLocks noGrp="1"/>
          </p:cNvSpPr>
          <p:nvPr>
            <p:ph type="ctrTitle"/>
          </p:nvPr>
        </p:nvSpPr>
        <p:spPr>
          <a:xfrm>
            <a:off x="1370693" y="653144"/>
            <a:ext cx="9440034" cy="2286000"/>
          </a:xfrm>
        </p:spPr>
        <p:txBody>
          <a:bodyPr/>
          <a:lstStyle/>
          <a:p>
            <a:r>
              <a:rPr lang="en-IN" dirty="0">
                <a:latin typeface="Times New Roman" panose="02020603050405020304" pitchFamily="18" charset="0"/>
                <a:cs typeface="Times New Roman" panose="02020603050405020304" pitchFamily="18" charset="0"/>
              </a:rPr>
              <a:t>Student Management System</a:t>
            </a:r>
          </a:p>
        </p:txBody>
      </p:sp>
      <p:sp>
        <p:nvSpPr>
          <p:cNvPr id="3" name="Subtitle 2">
            <a:extLst>
              <a:ext uri="{FF2B5EF4-FFF2-40B4-BE49-F238E27FC236}">
                <a16:creationId xmlns:a16="http://schemas.microsoft.com/office/drawing/2014/main" id="{D15763A4-075A-64BE-4662-1EBA64EAF1FA}"/>
              </a:ext>
            </a:extLst>
          </p:cNvPr>
          <p:cNvSpPr>
            <a:spLocks noGrp="1"/>
          </p:cNvSpPr>
          <p:nvPr>
            <p:ph type="subTitle" idx="1"/>
          </p:nvPr>
        </p:nvSpPr>
        <p:spPr>
          <a:xfrm>
            <a:off x="6587412" y="3773489"/>
            <a:ext cx="5604588" cy="1740903"/>
          </a:xfrm>
        </p:spPr>
        <p:txBody>
          <a:bodyPr>
            <a:normAutofit/>
          </a:bodyPr>
          <a:lstStyle/>
          <a:p>
            <a:r>
              <a:rPr lang="en-IN" sz="2800" dirty="0">
                <a:latin typeface="Times New Roman" panose="02020603050405020304" pitchFamily="18" charset="0"/>
                <a:cs typeface="Times New Roman" panose="02020603050405020304" pitchFamily="18" charset="0"/>
              </a:rPr>
              <a:t>Presented by……</a:t>
            </a:r>
          </a:p>
          <a:p>
            <a:r>
              <a:rPr lang="en-IN" sz="2800" dirty="0">
                <a:latin typeface="Times New Roman" panose="02020603050405020304" pitchFamily="18" charset="0"/>
                <a:cs typeface="Times New Roman" panose="02020603050405020304" pitchFamily="18" charset="0"/>
              </a:rPr>
              <a:t>V. Supriya</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483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FAE97-5937-BEAF-4656-EB01EA8A3C56}"/>
              </a:ext>
            </a:extLst>
          </p:cNvPr>
          <p:cNvSpPr>
            <a:spLocks noGrp="1"/>
          </p:cNvSpPr>
          <p:nvPr>
            <p:ph idx="1"/>
          </p:nvPr>
        </p:nvSpPr>
        <p:spPr>
          <a:xfrm>
            <a:off x="1030637" y="1921789"/>
            <a:ext cx="10234494" cy="2913681"/>
          </a:xfrm>
        </p:spPr>
        <p:txBody>
          <a:bodyPr>
            <a:normAutofit lnSpcReduction="10000"/>
          </a:bodyPr>
          <a:lstStyle/>
          <a:p>
            <a:pPr marL="36900" indent="0">
              <a:buNone/>
            </a:pPr>
            <a:r>
              <a:rPr lang="en-US" sz="4800" dirty="0">
                <a:solidFill>
                  <a:schemeClr val="tx1"/>
                </a:solidFill>
                <a:latin typeface="Times New Roman" panose="02020603050405020304" pitchFamily="18" charset="0"/>
                <a:cs typeface="Times New Roman" panose="02020603050405020304" pitchFamily="18" charset="0"/>
              </a:rPr>
              <a:t>Introduction:</a:t>
            </a:r>
            <a:endParaRPr lang="en-IN" sz="4800" dirty="0">
              <a:solidFill>
                <a:schemeClr val="tx1"/>
              </a:solidFill>
              <a:latin typeface="Times New Roman" panose="02020603050405020304" pitchFamily="18" charset="0"/>
              <a:cs typeface="Times New Roman" panose="02020603050405020304" pitchFamily="18" charset="0"/>
            </a:endParaRPr>
          </a:p>
          <a:p>
            <a:pPr marL="0" indent="0" algn="just">
              <a:lnSpc>
                <a:spcPct val="130000"/>
              </a:lnSpc>
              <a:buNone/>
            </a:pPr>
            <a:r>
              <a:rPr lang="en-US" sz="3200" dirty="0">
                <a:solidFill>
                  <a:schemeClr val="tx1">
                    <a:lumMod val="75000"/>
                  </a:schemeClr>
                </a:solidFill>
                <a:latin typeface="Times New Roman" panose="02020603050405020304" pitchFamily="18" charset="0"/>
                <a:ea typeface="Calibri" pitchFamily="34" charset="-122"/>
                <a:cs typeface="Times New Roman" panose="02020603050405020304" pitchFamily="18" charset="0"/>
              </a:rPr>
              <a:t>A front-end web application for managing admissions, attendance, marks, and fee records — built with HTML, CSS, and JavaScript.</a:t>
            </a:r>
            <a:endParaRPr lang="en-US" sz="3200" dirty="0">
              <a:solidFill>
                <a:schemeClr val="tx1">
                  <a:lumMod val="75000"/>
                </a:schemeClr>
              </a:solidFill>
              <a:latin typeface="Times New Roman" panose="02020603050405020304" pitchFamily="18" charset="0"/>
              <a:cs typeface="Times New Roman" panose="02020603050405020304" pitchFamily="18" charset="0"/>
            </a:endParaRPr>
          </a:p>
          <a:p>
            <a:pPr marL="36900" indent="0">
              <a:buNone/>
            </a:pPr>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923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A3AFB7-8339-F09B-C34F-1851E500AED5}"/>
              </a:ext>
            </a:extLst>
          </p:cNvPr>
          <p:cNvSpPr>
            <a:spLocks noGrp="1"/>
          </p:cNvSpPr>
          <p:nvPr>
            <p:ph idx="1"/>
          </p:nvPr>
        </p:nvSpPr>
        <p:spPr>
          <a:xfrm>
            <a:off x="914400" y="1157288"/>
            <a:ext cx="10353675" cy="4633912"/>
          </a:xfrm>
        </p:spPr>
        <p:txBody>
          <a:bodyPr>
            <a:normAutofit fontScale="97500"/>
          </a:bodyPr>
          <a:lstStyle/>
          <a:p>
            <a:pPr marL="36900" indent="0">
              <a:buNone/>
            </a:pPr>
            <a:r>
              <a:rPr lang="en-US" sz="4100" b="1" dirty="0">
                <a:solidFill>
                  <a:schemeClr val="tx1">
                    <a:lumMod val="95000"/>
                  </a:schemeClr>
                </a:solidFill>
                <a:latin typeface="Times New Roman" panose="02020603050405020304" pitchFamily="18" charset="0"/>
                <a:ea typeface="Cambria" pitchFamily="34" charset="-122"/>
                <a:cs typeface="Times New Roman" panose="02020603050405020304" pitchFamily="18" charset="0"/>
              </a:rPr>
              <a:t>Project Aim:</a:t>
            </a:r>
          </a:p>
          <a:p>
            <a:pPr marL="36900" indent="0" algn="just">
              <a:lnSpc>
                <a:spcPct val="150000"/>
              </a:lnSpc>
              <a:buNone/>
            </a:pPr>
            <a:r>
              <a:rPr lang="en-US" sz="2900" dirty="0">
                <a:solidFill>
                  <a:schemeClr val="tx1">
                    <a:lumMod val="85000"/>
                  </a:schemeClr>
                </a:solidFill>
                <a:latin typeface="Times New Roman" panose="02020603050405020304" pitchFamily="18" charset="0"/>
                <a:ea typeface="Calibri" pitchFamily="34" charset="-122"/>
                <a:cs typeface="Times New Roman" panose="02020603050405020304" pitchFamily="18" charset="0"/>
              </a:rPr>
              <a:t>To design and develop a simple, browser-based Student Management System that allows a registrar or administrator to record and view student admissions, attendance, marks, and fee details from a single, easy-to-use dashboard — without relying on paper registers or scattered spreadsheets.</a:t>
            </a:r>
            <a:endParaRPr lang="en-US" sz="2900" dirty="0">
              <a:solidFill>
                <a:schemeClr val="tx1">
                  <a:lumMod val="85000"/>
                </a:schemeClr>
              </a:solidFill>
              <a:latin typeface="Times New Roman" panose="02020603050405020304" pitchFamily="18" charset="0"/>
              <a:cs typeface="Times New Roman" panose="02020603050405020304" pitchFamily="18" charset="0"/>
            </a:endParaRPr>
          </a:p>
          <a:p>
            <a:pPr marL="36900" indent="0">
              <a:buNone/>
            </a:pPr>
            <a:endParaRPr lang="en-US" sz="3300" dirty="0">
              <a:solidFill>
                <a:schemeClr val="tx1">
                  <a:lumMod val="9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0576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00761-FDED-328C-B5EC-B65EF603D608}"/>
              </a:ext>
            </a:extLst>
          </p:cNvPr>
          <p:cNvSpPr>
            <a:spLocks noGrp="1"/>
          </p:cNvSpPr>
          <p:nvPr>
            <p:ph idx="1"/>
          </p:nvPr>
        </p:nvSpPr>
        <p:spPr>
          <a:xfrm>
            <a:off x="587829" y="727788"/>
            <a:ext cx="10679728" cy="5063411"/>
          </a:xfrm>
        </p:spPr>
        <p:txBody>
          <a:bodyPr>
            <a:normAutofit/>
          </a:bodyPr>
          <a:lstStyle/>
          <a:p>
            <a:pPr marL="36900" indent="0" algn="ctr">
              <a:buNone/>
            </a:pPr>
            <a:r>
              <a:rPr lang="en-IN" sz="4800" b="1" dirty="0">
                <a:solidFill>
                  <a:schemeClr val="tx1"/>
                </a:solidFill>
                <a:latin typeface="Times New Roman" panose="02020603050405020304" pitchFamily="18" charset="0"/>
                <a:cs typeface="Times New Roman" panose="02020603050405020304" pitchFamily="18" charset="0"/>
              </a:rPr>
              <a:t>ABSTRACT</a:t>
            </a:r>
          </a:p>
          <a:p>
            <a:pPr marL="36900" indent="0" algn="just">
              <a:lnSpc>
                <a:spcPct val="150000"/>
              </a:lnSpc>
              <a:buNone/>
            </a:pPr>
            <a:r>
              <a:rPr lang="en-US" sz="2800" dirty="0">
                <a:solidFill>
                  <a:schemeClr val="tx1">
                    <a:lumMod val="65000"/>
                  </a:schemeClr>
                </a:solidFill>
                <a:latin typeface="Times New Roman" panose="02020603050405020304" pitchFamily="18" charset="0"/>
                <a:cs typeface="Times New Roman" panose="02020603050405020304" pitchFamily="18" charset="0"/>
              </a:rPr>
              <a:t>The Student Management System is a simple front-end web application developed using HTML, CSS, and JavaScript. It is used to manage student admissions, attendance, marks, and fee records. The system provides an easy-to-use interface for adding, viewing, and updating student information. It helps organize records, reduces manual work, and saves time.</a:t>
            </a:r>
            <a:endParaRPr lang="en-IN" sz="2800" b="1" dirty="0">
              <a:solidFill>
                <a:schemeClr val="tx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66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99A99-38E2-85A6-ACF5-3FBC6C318194}"/>
              </a:ext>
            </a:extLst>
          </p:cNvPr>
          <p:cNvSpPr>
            <a:spLocks noGrp="1"/>
          </p:cNvSpPr>
          <p:nvPr>
            <p:ph idx="1"/>
          </p:nvPr>
        </p:nvSpPr>
        <p:spPr>
          <a:xfrm>
            <a:off x="913795" y="494521"/>
            <a:ext cx="10353762" cy="6223519"/>
          </a:xfrm>
        </p:spPr>
        <p:txBody>
          <a:bodyPr>
            <a:normAutofit/>
          </a:bodyPr>
          <a:lstStyle/>
          <a:p>
            <a:pPr marL="36900" indent="0">
              <a:buNone/>
            </a:pPr>
            <a:r>
              <a:rPr lang="en-US" sz="4000" b="1" dirty="0">
                <a:solidFill>
                  <a:schemeClr val="tx1"/>
                </a:solidFill>
                <a:latin typeface="Times New Roman" panose="02020603050405020304" pitchFamily="18" charset="0"/>
                <a:cs typeface="Times New Roman" panose="02020603050405020304" pitchFamily="18" charset="0"/>
              </a:rPr>
              <a:t>System Overview:</a:t>
            </a:r>
          </a:p>
          <a:p>
            <a:pPr marL="36900" indent="0" algn="just">
              <a:lnSpc>
                <a:spcPct val="150000"/>
              </a:lnSpc>
              <a:buNone/>
            </a:pPr>
            <a:r>
              <a:rPr lang="en-US" sz="2800" dirty="0">
                <a:solidFill>
                  <a:schemeClr val="tx1">
                    <a:lumMod val="65000"/>
                  </a:schemeClr>
                </a:solidFill>
                <a:latin typeface="Times New Roman" panose="02020603050405020304" pitchFamily="18" charset="0"/>
                <a:cs typeface="Times New Roman" panose="02020603050405020304" pitchFamily="18" charset="0"/>
              </a:rPr>
              <a:t>The Student Management System is a simple front-end web application developed using HTML, CSS, and JavaScript.</a:t>
            </a:r>
          </a:p>
          <a:p>
            <a:pPr marL="36900" indent="0" algn="just">
              <a:lnSpc>
                <a:spcPct val="150000"/>
              </a:lnSpc>
              <a:buNone/>
            </a:pPr>
            <a:r>
              <a:rPr lang="en-US" sz="2800" b="1" dirty="0">
                <a:solidFill>
                  <a:schemeClr val="tx1">
                    <a:lumMod val="65000"/>
                  </a:schemeClr>
                </a:solidFill>
                <a:latin typeface="Times New Roman" panose="02020603050405020304" pitchFamily="18" charset="0"/>
                <a:cs typeface="Times New Roman" panose="02020603050405020304" pitchFamily="18" charset="0"/>
              </a:rPr>
              <a:t>Core Modules</a:t>
            </a:r>
          </a:p>
          <a:p>
            <a:pPr algn="just">
              <a:lnSpc>
                <a:spcPct val="150000"/>
              </a:lnSpc>
              <a:buFont typeface="+mj-lt"/>
              <a:buAutoNum type="arabicPeriod"/>
            </a:pPr>
            <a:r>
              <a:rPr lang="en-US" sz="2400" b="1" dirty="0">
                <a:solidFill>
                  <a:schemeClr val="tx1">
                    <a:lumMod val="65000"/>
                  </a:schemeClr>
                </a:solidFill>
                <a:latin typeface="Times New Roman" panose="02020603050405020304" pitchFamily="18" charset="0"/>
                <a:cs typeface="Times New Roman" panose="02020603050405020304" pitchFamily="18" charset="0"/>
              </a:rPr>
              <a:t>Admission Module</a:t>
            </a:r>
            <a:r>
              <a:rPr lang="en-US" sz="2400" dirty="0">
                <a:solidFill>
                  <a:schemeClr val="tx1">
                    <a:lumMod val="65000"/>
                  </a:schemeClr>
                </a:solidFill>
                <a:latin typeface="Times New Roman" panose="02020603050405020304" pitchFamily="18" charset="0"/>
                <a:cs typeface="Times New Roman" panose="02020603050405020304" pitchFamily="18" charset="0"/>
              </a:rPr>
              <a:t> – Add and manage student admission details.</a:t>
            </a:r>
          </a:p>
          <a:p>
            <a:pPr algn="just">
              <a:lnSpc>
                <a:spcPct val="150000"/>
              </a:lnSpc>
              <a:buFont typeface="+mj-lt"/>
              <a:buAutoNum type="arabicPeriod"/>
            </a:pPr>
            <a:r>
              <a:rPr lang="en-US" sz="2400" b="1" dirty="0">
                <a:solidFill>
                  <a:schemeClr val="tx1">
                    <a:lumMod val="65000"/>
                  </a:schemeClr>
                </a:solidFill>
                <a:latin typeface="Times New Roman" panose="02020603050405020304" pitchFamily="18" charset="0"/>
                <a:cs typeface="Times New Roman" panose="02020603050405020304" pitchFamily="18" charset="0"/>
              </a:rPr>
              <a:t>Attendance Module</a:t>
            </a:r>
            <a:r>
              <a:rPr lang="en-US" sz="2400" dirty="0">
                <a:solidFill>
                  <a:schemeClr val="tx1">
                    <a:lumMod val="65000"/>
                  </a:schemeClr>
                </a:solidFill>
                <a:latin typeface="Times New Roman" panose="02020603050405020304" pitchFamily="18" charset="0"/>
                <a:cs typeface="Times New Roman" panose="02020603050405020304" pitchFamily="18" charset="0"/>
              </a:rPr>
              <a:t> – Record and view student attendance.</a:t>
            </a:r>
          </a:p>
          <a:p>
            <a:pPr algn="just">
              <a:lnSpc>
                <a:spcPct val="150000"/>
              </a:lnSpc>
              <a:buFont typeface="+mj-lt"/>
              <a:buAutoNum type="arabicPeriod"/>
            </a:pPr>
            <a:r>
              <a:rPr lang="en-US" sz="2400" b="1" dirty="0">
                <a:solidFill>
                  <a:schemeClr val="tx1">
                    <a:lumMod val="65000"/>
                  </a:schemeClr>
                </a:solidFill>
                <a:latin typeface="Times New Roman" panose="02020603050405020304" pitchFamily="18" charset="0"/>
                <a:cs typeface="Times New Roman" panose="02020603050405020304" pitchFamily="18" charset="0"/>
              </a:rPr>
              <a:t>Marks Module</a:t>
            </a:r>
            <a:r>
              <a:rPr lang="en-US" sz="2400" dirty="0">
                <a:solidFill>
                  <a:schemeClr val="tx1">
                    <a:lumMod val="65000"/>
                  </a:schemeClr>
                </a:solidFill>
                <a:latin typeface="Times New Roman" panose="02020603050405020304" pitchFamily="18" charset="0"/>
                <a:cs typeface="Times New Roman" panose="02020603050405020304" pitchFamily="18" charset="0"/>
              </a:rPr>
              <a:t> – Add and manage student marks.</a:t>
            </a:r>
          </a:p>
          <a:p>
            <a:pPr algn="just">
              <a:lnSpc>
                <a:spcPct val="150000"/>
              </a:lnSpc>
              <a:buFont typeface="+mj-lt"/>
              <a:buAutoNum type="arabicPeriod"/>
            </a:pPr>
            <a:r>
              <a:rPr lang="en-US" sz="2400" b="1" dirty="0">
                <a:solidFill>
                  <a:schemeClr val="tx1">
                    <a:lumMod val="65000"/>
                  </a:schemeClr>
                </a:solidFill>
                <a:latin typeface="Times New Roman" panose="02020603050405020304" pitchFamily="18" charset="0"/>
                <a:cs typeface="Times New Roman" panose="02020603050405020304" pitchFamily="18" charset="0"/>
              </a:rPr>
              <a:t>Fee Module</a:t>
            </a:r>
            <a:r>
              <a:rPr lang="en-US" sz="2400" dirty="0">
                <a:solidFill>
                  <a:schemeClr val="tx1">
                    <a:lumMod val="65000"/>
                  </a:schemeClr>
                </a:solidFill>
                <a:latin typeface="Times New Roman" panose="02020603050405020304" pitchFamily="18" charset="0"/>
                <a:cs typeface="Times New Roman" panose="02020603050405020304" pitchFamily="18" charset="0"/>
              </a:rPr>
              <a:t> – Record and track student fee details</a:t>
            </a:r>
            <a:r>
              <a:rPr lang="en-US" sz="2000" dirty="0">
                <a:solidFill>
                  <a:schemeClr val="tx1">
                    <a:lumMod val="65000"/>
                  </a:schemeClr>
                </a:solidFill>
              </a:rPr>
              <a:t>.</a:t>
            </a:r>
          </a:p>
          <a:p>
            <a:pPr>
              <a:lnSpc>
                <a:spcPct val="100000"/>
              </a:lnSpc>
            </a:pPr>
            <a:endParaRPr lang="en-US" sz="2800" dirty="0">
              <a:solidFill>
                <a:schemeClr val="tx1">
                  <a:lumMod val="7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70384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FAEABF-1F85-BB96-7B36-A45387A993FD}"/>
              </a:ext>
            </a:extLst>
          </p:cNvPr>
          <p:cNvSpPr>
            <a:spLocks noGrp="1"/>
          </p:cNvSpPr>
          <p:nvPr>
            <p:ph idx="1"/>
          </p:nvPr>
        </p:nvSpPr>
        <p:spPr>
          <a:xfrm>
            <a:off x="913795" y="653144"/>
            <a:ext cx="10353762" cy="5138056"/>
          </a:xfrm>
        </p:spPr>
        <p:txBody>
          <a:bodyPr>
            <a:normAutofit fontScale="92500" lnSpcReduction="10000"/>
          </a:bodyPr>
          <a:lstStyle/>
          <a:p>
            <a:pPr marL="36900" indent="0">
              <a:buNone/>
            </a:pPr>
            <a:r>
              <a:rPr lang="en-IN" sz="4300" dirty="0">
                <a:solidFill>
                  <a:schemeClr val="tx1">
                    <a:lumMod val="95000"/>
                  </a:schemeClr>
                </a:solidFill>
                <a:latin typeface="Times New Roman" panose="02020603050405020304" pitchFamily="18" charset="0"/>
                <a:cs typeface="Times New Roman" panose="02020603050405020304" pitchFamily="18" charset="0"/>
              </a:rPr>
              <a:t>Advantages:</a:t>
            </a:r>
            <a:endParaRPr lang="en-US" sz="4300" b="1"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Easy to use.</a:t>
            </a:r>
          </a:p>
          <a:p>
            <a:pPr>
              <a:lnSpc>
                <a:spcPct val="15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Saves time.</a:t>
            </a:r>
          </a:p>
          <a:p>
            <a:pPr>
              <a:lnSpc>
                <a:spcPct val="15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Reduces manual work.</a:t>
            </a:r>
          </a:p>
          <a:p>
            <a:pPr>
              <a:lnSpc>
                <a:spcPct val="16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Stores student records in one place.</a:t>
            </a:r>
          </a:p>
          <a:p>
            <a:pPr>
              <a:lnSpc>
                <a:spcPct val="15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Simple and user-friendly interface.</a:t>
            </a:r>
          </a:p>
          <a:p>
            <a:pPr>
              <a:lnSpc>
                <a:spcPct val="150000"/>
              </a:lnSpc>
              <a:buFont typeface="Arial" panose="020B0604020202020204" pitchFamily="34" charset="0"/>
              <a:buChar char="•"/>
            </a:pPr>
            <a:r>
              <a:rPr lang="en-US" sz="2800" dirty="0">
                <a:solidFill>
                  <a:schemeClr val="tx1">
                    <a:lumMod val="75000"/>
                  </a:schemeClr>
                </a:solidFill>
                <a:latin typeface="Times New Roman" panose="02020603050405020304" pitchFamily="18" charset="0"/>
                <a:cs typeface="Times New Roman" panose="02020603050405020304" pitchFamily="18" charset="0"/>
              </a:rPr>
              <a:t>Easy to update student information.</a:t>
            </a:r>
          </a:p>
          <a:p>
            <a:endParaRPr lang="en-IN" sz="3600" b="1" dirty="0">
              <a:solidFill>
                <a:schemeClr val="tx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300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954552-5D8E-E15C-8BDF-D701898B6FF4}"/>
              </a:ext>
            </a:extLst>
          </p:cNvPr>
          <p:cNvSpPr>
            <a:spLocks noGrp="1"/>
          </p:cNvSpPr>
          <p:nvPr>
            <p:ph idx="1"/>
          </p:nvPr>
        </p:nvSpPr>
        <p:spPr>
          <a:xfrm>
            <a:off x="913795" y="830424"/>
            <a:ext cx="10353762" cy="4960775"/>
          </a:xfrm>
        </p:spPr>
        <p:txBody>
          <a:bodyPr/>
          <a:lstStyle/>
          <a:p>
            <a:pPr marL="36900" indent="0">
              <a:buNone/>
            </a:pPr>
            <a:r>
              <a:rPr lang="en-US" sz="3600" b="1" dirty="0">
                <a:solidFill>
                  <a:schemeClr val="tx1"/>
                </a:solidFill>
                <a:latin typeface="Times New Roman" panose="02020603050405020304" pitchFamily="18" charset="0"/>
                <a:cs typeface="Times New Roman" panose="02020603050405020304" pitchFamily="18" charset="0"/>
              </a:rPr>
              <a:t>Disadvantages</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No database support.</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Limited features.</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No login system.</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Data is not stored permanently.</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Suitable only for small projects.</a:t>
            </a:r>
          </a:p>
          <a:p>
            <a:endParaRPr lang="en-IN" dirty="0"/>
          </a:p>
        </p:txBody>
      </p:sp>
    </p:spTree>
    <p:extLst>
      <p:ext uri="{BB962C8B-B14F-4D97-AF65-F5344CB8AC3E}">
        <p14:creationId xmlns:p14="http://schemas.microsoft.com/office/powerpoint/2010/main" val="3075469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7CAE6-4DC1-6DF8-1E15-69555C5C985B}"/>
              </a:ext>
            </a:extLst>
          </p:cNvPr>
          <p:cNvSpPr>
            <a:spLocks noGrp="1"/>
          </p:cNvSpPr>
          <p:nvPr>
            <p:ph idx="1"/>
          </p:nvPr>
        </p:nvSpPr>
        <p:spPr>
          <a:xfrm>
            <a:off x="913795" y="802434"/>
            <a:ext cx="10353762" cy="4988766"/>
          </a:xfrm>
        </p:spPr>
        <p:txBody>
          <a:bodyPr/>
          <a:lstStyle/>
          <a:p>
            <a:pPr marL="36900" indent="0">
              <a:buNone/>
            </a:pPr>
            <a:r>
              <a:rPr lang="en-US" sz="3600" b="1" dirty="0">
                <a:solidFill>
                  <a:schemeClr val="tx1"/>
                </a:solidFill>
                <a:latin typeface="Times New Roman" panose="02020603050405020304" pitchFamily="18" charset="0"/>
                <a:cs typeface="Times New Roman" panose="02020603050405020304" pitchFamily="18" charset="0"/>
              </a:rPr>
              <a:t>Future Scope</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Add a database to store data permanently.</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Implement a user login system.</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Generate reports automatically.</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Add student and teacher dashboards.</a:t>
            </a:r>
          </a:p>
          <a:p>
            <a:pPr>
              <a:lnSpc>
                <a:spcPct val="150000"/>
              </a:lnSpc>
              <a:buFont typeface="Arial" panose="020B0604020202020204" pitchFamily="34" charset="0"/>
              <a:buChar char="•"/>
            </a:pPr>
            <a:r>
              <a:rPr lang="en-US" sz="2800" dirty="0">
                <a:solidFill>
                  <a:schemeClr val="tx1">
                    <a:lumMod val="65000"/>
                  </a:schemeClr>
                </a:solidFill>
                <a:latin typeface="Times New Roman" panose="02020603050405020304" pitchFamily="18" charset="0"/>
                <a:cs typeface="Times New Roman" panose="02020603050405020304" pitchFamily="18" charset="0"/>
              </a:rPr>
              <a:t>Make the system accessible on mobile devices</a:t>
            </a:r>
            <a:r>
              <a:rPr lang="en-US" dirty="0"/>
              <a:t>.</a:t>
            </a:r>
          </a:p>
          <a:p>
            <a:endParaRPr lang="en-IN" dirty="0"/>
          </a:p>
        </p:txBody>
      </p:sp>
    </p:spTree>
    <p:extLst>
      <p:ext uri="{BB962C8B-B14F-4D97-AF65-F5344CB8AC3E}">
        <p14:creationId xmlns:p14="http://schemas.microsoft.com/office/powerpoint/2010/main" val="2620756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8A6CA0-3324-8FF0-2FCC-B019FA6407B6}"/>
              </a:ext>
            </a:extLst>
          </p:cNvPr>
          <p:cNvSpPr>
            <a:spLocks noGrp="1"/>
          </p:cNvSpPr>
          <p:nvPr>
            <p:ph idx="1"/>
          </p:nvPr>
        </p:nvSpPr>
        <p:spPr>
          <a:xfrm>
            <a:off x="587829" y="485191"/>
            <a:ext cx="11187404" cy="5924939"/>
          </a:xfrm>
        </p:spPr>
        <p:txBody>
          <a:bodyPr>
            <a:normAutofit/>
          </a:bodyPr>
          <a:lstStyle/>
          <a:p>
            <a:pPr marL="36900" indent="0">
              <a:buNone/>
            </a:pPr>
            <a:r>
              <a:rPr lang="en-IN" sz="3600" dirty="0">
                <a:solidFill>
                  <a:schemeClr val="tx1"/>
                </a:solidFill>
                <a:latin typeface="Times New Roman" panose="02020603050405020304" pitchFamily="18" charset="0"/>
                <a:cs typeface="Times New Roman" panose="02020603050405020304" pitchFamily="18" charset="0"/>
              </a:rPr>
              <a:t>Outputs:</a:t>
            </a:r>
          </a:p>
          <a:p>
            <a:pPr marL="36900" indent="0">
              <a:buNone/>
            </a:pPr>
            <a:r>
              <a:rPr lang="en-IN" sz="3600" dirty="0">
                <a:solidFill>
                  <a:schemeClr val="tx1"/>
                </a:solidFill>
                <a:latin typeface="Times New Roman" panose="02020603050405020304" pitchFamily="18" charset="0"/>
                <a:cs typeface="Times New Roman" panose="02020603050405020304" pitchFamily="18" charset="0"/>
              </a:rPr>
              <a:t>1.Dashboard:</a:t>
            </a:r>
          </a:p>
          <a:p>
            <a:pPr marL="36900" indent="0">
              <a:buNone/>
            </a:pPr>
            <a:endParaRPr lang="en-IN" sz="36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9668DF-8432-BEA8-5CED-B1787B81467E}"/>
              </a:ext>
            </a:extLst>
          </p:cNvPr>
          <p:cNvPicPr>
            <a:picLocks noChangeAspect="1"/>
          </p:cNvPicPr>
          <p:nvPr/>
        </p:nvPicPr>
        <p:blipFill>
          <a:blip r:embed="rId2"/>
          <a:stretch>
            <a:fillRect/>
          </a:stretch>
        </p:blipFill>
        <p:spPr>
          <a:xfrm>
            <a:off x="913794" y="2080727"/>
            <a:ext cx="10450891" cy="4077476"/>
          </a:xfrm>
          <a:prstGeom prst="rect">
            <a:avLst/>
          </a:prstGeom>
        </p:spPr>
      </p:pic>
    </p:spTree>
    <p:extLst>
      <p:ext uri="{BB962C8B-B14F-4D97-AF65-F5344CB8AC3E}">
        <p14:creationId xmlns:p14="http://schemas.microsoft.com/office/powerpoint/2010/main" val="3967445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24A89-6BB4-B03C-2000-F14DDE7EDE68}"/>
              </a:ext>
            </a:extLst>
          </p:cNvPr>
          <p:cNvSpPr>
            <a:spLocks noGrp="1"/>
          </p:cNvSpPr>
          <p:nvPr>
            <p:ph idx="1"/>
          </p:nvPr>
        </p:nvSpPr>
        <p:spPr>
          <a:xfrm>
            <a:off x="913795" y="475862"/>
            <a:ext cx="10353762" cy="5315338"/>
          </a:xfrm>
        </p:spPr>
        <p:txBody>
          <a:bodyPr>
            <a:normAutofit/>
          </a:bodyPr>
          <a:lstStyle/>
          <a:p>
            <a:pPr marL="36900" indent="0">
              <a:buNone/>
            </a:pPr>
            <a:r>
              <a:rPr lang="en-IN" sz="3200" dirty="0">
                <a:latin typeface="Times New Roman" panose="02020603050405020304" pitchFamily="18" charset="0"/>
                <a:cs typeface="Times New Roman" panose="02020603050405020304" pitchFamily="18" charset="0"/>
              </a:rPr>
              <a:t>2.Admissions:</a:t>
            </a:r>
          </a:p>
          <a:p>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2CF2893-431D-2374-CA5B-0B9F55A2D334}"/>
              </a:ext>
            </a:extLst>
          </p:cNvPr>
          <p:cNvPicPr>
            <a:picLocks noChangeAspect="1"/>
          </p:cNvPicPr>
          <p:nvPr/>
        </p:nvPicPr>
        <p:blipFill>
          <a:blip r:embed="rId2"/>
          <a:stretch>
            <a:fillRect/>
          </a:stretch>
        </p:blipFill>
        <p:spPr>
          <a:xfrm>
            <a:off x="1082351" y="1492897"/>
            <a:ext cx="10011747" cy="4506687"/>
          </a:xfrm>
          <a:prstGeom prst="rect">
            <a:avLst/>
          </a:prstGeom>
        </p:spPr>
      </p:pic>
    </p:spTree>
    <p:extLst>
      <p:ext uri="{BB962C8B-B14F-4D97-AF65-F5344CB8AC3E}">
        <p14:creationId xmlns:p14="http://schemas.microsoft.com/office/powerpoint/2010/main" val="864578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CC771F-F1FD-EDBA-5EA2-C89E1F56CA83}"/>
              </a:ext>
            </a:extLst>
          </p:cNvPr>
          <p:cNvSpPr>
            <a:spLocks noGrp="1"/>
          </p:cNvSpPr>
          <p:nvPr>
            <p:ph idx="1"/>
          </p:nvPr>
        </p:nvSpPr>
        <p:spPr>
          <a:xfrm>
            <a:off x="913795" y="606490"/>
            <a:ext cx="10353762" cy="5421086"/>
          </a:xfrm>
        </p:spPr>
        <p:txBody>
          <a:bodyPr>
            <a:normAutofit/>
          </a:bodyPr>
          <a:lstStyle/>
          <a:p>
            <a:pPr marL="36900" indent="0">
              <a:buNone/>
            </a:pPr>
            <a:r>
              <a:rPr lang="en-IN" sz="3600" dirty="0">
                <a:solidFill>
                  <a:schemeClr val="tx1"/>
                </a:solidFill>
                <a:latin typeface="Times New Roman" panose="02020603050405020304" pitchFamily="18" charset="0"/>
                <a:cs typeface="Times New Roman" panose="02020603050405020304" pitchFamily="18" charset="0"/>
              </a:rPr>
              <a:t>3.Marks:</a:t>
            </a:r>
          </a:p>
          <a:p>
            <a:endParaRPr lang="en-IN" sz="36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DABDB0F-AB51-A92C-D216-E48D7718DB65}"/>
              </a:ext>
            </a:extLst>
          </p:cNvPr>
          <p:cNvPicPr>
            <a:picLocks noChangeAspect="1"/>
          </p:cNvPicPr>
          <p:nvPr/>
        </p:nvPicPr>
        <p:blipFill>
          <a:blip r:embed="rId2"/>
          <a:stretch>
            <a:fillRect/>
          </a:stretch>
        </p:blipFill>
        <p:spPr>
          <a:xfrm>
            <a:off x="1222310" y="1530219"/>
            <a:ext cx="10045247" cy="4609323"/>
          </a:xfrm>
          <a:prstGeom prst="rect">
            <a:avLst/>
          </a:prstGeom>
        </p:spPr>
      </p:pic>
    </p:spTree>
    <p:extLst>
      <p:ext uri="{BB962C8B-B14F-4D97-AF65-F5344CB8AC3E}">
        <p14:creationId xmlns:p14="http://schemas.microsoft.com/office/powerpoint/2010/main" val="4287859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C09E30-39E2-7ECA-7607-186208216BEA}"/>
              </a:ext>
            </a:extLst>
          </p:cNvPr>
          <p:cNvSpPr>
            <a:spLocks noGrp="1"/>
          </p:cNvSpPr>
          <p:nvPr>
            <p:ph idx="1"/>
          </p:nvPr>
        </p:nvSpPr>
        <p:spPr>
          <a:xfrm>
            <a:off x="913795" y="681136"/>
            <a:ext cx="10353762" cy="5110064"/>
          </a:xfrm>
        </p:spPr>
        <p:txBody>
          <a:bodyPr>
            <a:normAutofit/>
          </a:bodyPr>
          <a:lstStyle/>
          <a:p>
            <a:pPr marL="36900" indent="0">
              <a:buNone/>
            </a:pPr>
            <a:r>
              <a:rPr lang="en-IN" sz="3600" dirty="0">
                <a:solidFill>
                  <a:schemeClr val="tx1"/>
                </a:solidFill>
                <a:latin typeface="Times New Roman" panose="02020603050405020304" pitchFamily="18" charset="0"/>
                <a:cs typeface="Times New Roman" panose="02020603050405020304" pitchFamily="18" charset="0"/>
              </a:rPr>
              <a:t>4.Fees&amp;payments:</a:t>
            </a:r>
          </a:p>
        </p:txBody>
      </p:sp>
      <p:pic>
        <p:nvPicPr>
          <p:cNvPr id="6" name="Content Placeholder 5">
            <a:extLst>
              <a:ext uri="{FF2B5EF4-FFF2-40B4-BE49-F238E27FC236}">
                <a16:creationId xmlns:a16="http://schemas.microsoft.com/office/drawing/2014/main" id="{E18A4881-BBBE-2926-F0D3-2449E168547C}"/>
              </a:ext>
            </a:extLst>
          </p:cNvPr>
          <p:cNvPicPr>
            <a:picLocks noChangeAspect="1"/>
          </p:cNvPicPr>
          <p:nvPr/>
        </p:nvPicPr>
        <p:blipFill>
          <a:blip r:embed="rId2"/>
          <a:stretch>
            <a:fillRect/>
          </a:stretch>
        </p:blipFill>
        <p:spPr bwMode="auto">
          <a:xfrm>
            <a:off x="1763486" y="1716833"/>
            <a:ext cx="9237305" cy="4105469"/>
          </a:xfrm>
          <a:prstGeom prst="rect">
            <a:avLst/>
          </a:prstGeom>
          <a:noFill/>
          <a:effectLst>
            <a:outerShdw blurRad="25400" dir="17880000">
              <a:srgbClr val="000000">
                <a:alpha val="46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091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09165-8141-4C8D-8796-2517E39FA326}"/>
              </a:ext>
            </a:extLst>
          </p:cNvPr>
          <p:cNvSpPr>
            <a:spLocks noGrp="1"/>
          </p:cNvSpPr>
          <p:nvPr>
            <p:ph idx="1"/>
          </p:nvPr>
        </p:nvSpPr>
        <p:spPr>
          <a:xfrm>
            <a:off x="913795" y="1250302"/>
            <a:ext cx="10353762" cy="4540897"/>
          </a:xfrm>
        </p:spPr>
        <p:txBody>
          <a:bodyPr/>
          <a:lstStyle/>
          <a:p>
            <a:pPr marL="36900" indent="0">
              <a:buNone/>
            </a:pPr>
            <a:r>
              <a:rPr lang="en-US" sz="3600" b="1" dirty="0">
                <a:solidFill>
                  <a:schemeClr val="tx1"/>
                </a:solidFill>
                <a:latin typeface="Times New Roman" panose="02020603050405020304" pitchFamily="18" charset="0"/>
                <a:cs typeface="Times New Roman" panose="02020603050405020304" pitchFamily="18" charset="0"/>
              </a:rPr>
              <a:t>Conclusion:</a:t>
            </a:r>
          </a:p>
          <a:p>
            <a:pPr marL="36900" indent="0" algn="just">
              <a:lnSpc>
                <a:spcPct val="150000"/>
              </a:lnSpc>
              <a:buNone/>
            </a:pPr>
            <a:r>
              <a:rPr lang="en-US" sz="2400" dirty="0">
                <a:solidFill>
                  <a:schemeClr val="tx1">
                    <a:lumMod val="75000"/>
                  </a:schemeClr>
                </a:solidFill>
                <a:latin typeface="Times New Roman" panose="02020603050405020304" pitchFamily="18" charset="0"/>
                <a:cs typeface="Times New Roman" panose="02020603050405020304" pitchFamily="18" charset="0"/>
              </a:rPr>
              <a:t>The Student Management System is a simple and user-friendly web application developed using HTML, CSS, and JavaScript. It helps manage student admissions, attendance, marks, and fee records efficiently. The system reduces manual work, saves time, and makes student data easy to organize and manage.</a:t>
            </a:r>
          </a:p>
          <a:p>
            <a:pPr marL="36900" indent="0">
              <a:buNone/>
            </a:pPr>
            <a:endParaRPr lang="en-IN" dirty="0"/>
          </a:p>
        </p:txBody>
      </p:sp>
    </p:spTree>
    <p:extLst>
      <p:ext uri="{BB962C8B-B14F-4D97-AF65-F5344CB8AC3E}">
        <p14:creationId xmlns:p14="http://schemas.microsoft.com/office/powerpoint/2010/main" val="1573931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8781C-15EF-AF8C-FDA1-F2BCD73D69B4}"/>
              </a:ext>
            </a:extLst>
          </p:cNvPr>
          <p:cNvSpPr>
            <a:spLocks noGrp="1"/>
          </p:cNvSpPr>
          <p:nvPr>
            <p:ph idx="1"/>
          </p:nvPr>
        </p:nvSpPr>
        <p:spPr>
          <a:xfrm>
            <a:off x="2155371" y="2155371"/>
            <a:ext cx="7240556" cy="2547258"/>
          </a:xfrm>
        </p:spPr>
        <p:txBody>
          <a:bodyPr>
            <a:normAutofit/>
          </a:bodyPr>
          <a:lstStyle/>
          <a:p>
            <a:pPr marL="36900" indent="0" algn="ctr">
              <a:buNone/>
            </a:pPr>
            <a:r>
              <a:rPr lang="en-IN" sz="54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6633543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4C00F4-06E9-43E3-AD97-88A857CEFA82}">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3.xml><?xml version="1.0" encoding="utf-8"?>
<ds:datastoreItem xmlns:ds="http://schemas.openxmlformats.org/officeDocument/2006/customXml" ds:itemID="{64B270AB-C138-415C-897E-3C24487DEC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{93E9D8B7-CC29-473D-BEF4-C767C2F6AF01}TFe742eee6-54b3-45e8-a03d-f3d997f9b6caf6c338c2_win32-3734725ae7e2</Template>
  <TotalTime>78</TotalTime>
  <Words>381</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Goudy Old Style</vt:lpstr>
      <vt:lpstr>Times New Roman</vt:lpstr>
      <vt:lpstr>Wingdings 2</vt:lpstr>
      <vt:lpstr>SlateVTI</vt:lpstr>
      <vt:lpstr>Student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Management System</dc:title>
  <dc:creator>devsprintservicespvtltd@outlook.com</dc:creator>
  <cp:lastModifiedBy>devsprintservicespvtltd@outlook.com</cp:lastModifiedBy>
  <cp:revision>7</cp:revision>
  <dcterms:created xsi:type="dcterms:W3CDTF">2026-07-01T13:47:07Z</dcterms:created>
  <dcterms:modified xsi:type="dcterms:W3CDTF">2026-07-06T12:29:12Z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